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9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718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64008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64008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46304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46304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146304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REPORT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Smart Retail &amp;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Intelligence Platform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computer vision, NLP, and conversational AI behind one production-style REST API for retail businesses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937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Patre</a:t>
            </a:r>
            <a:r>
              <a:rPr lang="en-US" sz="12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Reg. No. 23BCE11840  •  App. No. IN26013953
Guided by Puneet Gurbani  •  Section 13(A)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195560" y="4297680"/>
            <a:ext cx="1371600" cy="1371600"/>
          </a:xfrm>
          <a:prstGeom prst="ellipse">
            <a:avLst/>
          </a:prstGeom>
          <a:solidFill>
            <a:srgbClr val="0F2A38"/>
          </a:solidFill>
          <a:ln/>
        </p:spPr>
      </p:sp>
      <p:pic>
        <p:nvPicPr>
          <p:cNvPr id="14" name="Image 0" descr="/home/claude/pptx_work/icons/cpu_02C3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76" y="4654296"/>
            <a:ext cx="658368" cy="6583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four retail intelligence capabilities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mid-sized retailers generate huge volumes of unstructured data — footfall, feedback, support chats — but rarely have the engineering resources to turn it into intelligence. This platform combines computer vision, NLP, and conversational AI into a single, deployable FastAPI service that a real retail business could adopt.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52260" y="15087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A5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0" y="1737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ptx_work/icons/camer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206" y="18800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2423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66560" y="27432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returning customers via face recognition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5087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A5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509760" y="1737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pptx_work/icons/ta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406" y="18800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09760" y="2423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509760" y="27432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product images with transfer learning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537960" y="40233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A5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66560" y="4251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pptx_work/icons/cha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206" y="43946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4937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766560" y="5257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customer sentiment from reviews &amp; feedback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281160" y="40233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A5F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09760" y="4251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pptx_work/icons/cha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2406" y="439460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09760" y="4937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509760" y="5257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FAQs with a hybrid rule + ML chatbot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AI capabilities exist — but rarely as one deployable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32F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need to identify returning customers, classify products, gauge sentiment, and handle FAQs — but existing solutions solve only one problem at a time.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32F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barrier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429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where individual open-source models exist, stitching them into one reliable, deployable service takes engineering effort most small retailers can't afford.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846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implementation showing how these capabilities combine into one coherent, documented, deployable system using freely available tools.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sets out to deliver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6" name="Image 0" descr="/home/claude/pptx_work/icons/users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recognition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&amp; recognition to log visits and identify returning customers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920240"/>
            <a:ext cx="502920" cy="50292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11" name="Image 1" descr="/home/claude/pptx_work/icons/tag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199" y="20509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892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classification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2606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model to auto-categorize product images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16" name="Image 2" descr="/home/claude/pptx_work/icons/chart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8959" y="20509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1892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58200" y="2606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to classify review/feedback sentiment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21" name="Image 3" descr="/home/claude/pptx_work/icons/chat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" y="42912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1330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chatbot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rule-based + ML chatbot for FAQ handling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34840" y="393192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4160520"/>
            <a:ext cx="502920" cy="50292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26" name="Image 4" descr="/home/claude/pptx_work/icons/layers_0280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199" y="429127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1330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pipeline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6344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inference pipeline, consistent model serialization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393192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58200" y="4160520"/>
            <a:ext cx="502920" cy="50292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31" name="Image 5" descr="/home/claude/pptx_work/icons/cloud_0280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8959" y="429127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1330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5820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REST API, containerized with Docker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layered, service-oriented design behind one API gateway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2E9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371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 •   Postman / cURL   •   Live webcam feed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130552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305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1305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Pydantic validation  ·  auto Swagger docs at /docs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90672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2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291840"/>
            <a:ext cx="457200" cy="45720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12" name="Image 0" descr="/home/claude/pptx_work/icons/camera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1071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3273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Module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41248" y="3867912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capture, face embeddings, CNN classifier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61688" y="3090672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2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62856" y="3291840"/>
            <a:ext cx="457200" cy="45720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17" name="Image 1" descr="/home/claude/pptx_work/icons/chart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341071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38928" y="3273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Module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62856" y="3867912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cleaning, TF-IDF / BERT, sentiment model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83296" y="3090672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2E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84464" y="3291840"/>
            <a:ext cx="457200" cy="45720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22" name="Image 2" descr="/home/claude/pptx_work/icons/chat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341071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60536" y="3273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Module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284464" y="3867912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matching, rule + ML hybrid, FAQ retrieval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0080" y="4782312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0B1F2A"/>
          </a:solidFill>
          <a:ln/>
        </p:spPr>
      </p:sp>
      <p:sp>
        <p:nvSpPr>
          <p:cNvPr id="26" name="Text 21"/>
          <p:cNvSpPr/>
          <p:nvPr/>
        </p:nvSpPr>
        <p:spPr>
          <a:xfrm>
            <a:off x="868680" y="478231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LAYER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291840" y="478231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customer_visits  ·  reviews  ·  chat_logs  ·  serialized models (.pkl / .h5)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Request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client payload to logged, JSON response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0F2A38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3118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an image or text payload to the relevant endpoint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0F2A38"/>
          </a:solidFill>
          <a:ln/>
        </p:spPr>
      </p:sp>
      <p:sp>
        <p:nvSpPr>
          <p:cNvPr id="8" name="Text 6"/>
          <p:cNvSpPr/>
          <p:nvPr/>
        </p:nvSpPr>
        <p:spPr>
          <a:xfrm>
            <a:off x="4590288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90288" y="2286000"/>
            <a:ext cx="3118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validates the payload against its Pydantic schema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0F2A38"/>
          </a:solidFill>
          <a:ln/>
        </p:spPr>
      </p:sp>
      <p:sp>
        <p:nvSpPr>
          <p:cNvPr id="11" name="Text 9"/>
          <p:cNvSpPr/>
          <p:nvPr/>
        </p:nvSpPr>
        <p:spPr>
          <a:xfrm>
            <a:off x="8339328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39328" y="2286000"/>
            <a:ext cx="3118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is routed to cv_service, nlp_service, or chatbot_service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0F2A3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886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" y="4434840"/>
            <a:ext cx="3118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retrieves the already-loaded model &amp; performs inference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3749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0F2A38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3886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90288" y="4434840"/>
            <a:ext cx="3118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formatted into the response schema and returned as JSON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749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0F2A38"/>
          </a:solidFill>
          <a:ln/>
        </p:spPr>
      </p:sp>
      <p:sp>
        <p:nvSpPr>
          <p:cNvPr id="20" name="Text 18"/>
          <p:cNvSpPr/>
          <p:nvPr/>
        </p:nvSpPr>
        <p:spPr>
          <a:xfrm>
            <a:off x="8339328" y="3886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39328" y="4434840"/>
            <a:ext cx="3118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is logged to storage for later aggregation in /dashboard/stats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load once at startup — not per request — keeping latency low and every recognized visit, classified product, and chat interaction auditable.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rapid prototyping, community support, and low-cost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A5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work/icons/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Haar Cascades, face_recognition (dlib), MobileNetV2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A5F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x_work/icons/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79" y="20509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/ NLTK, TF-IDF, scikit-learn, HuggingFace DistilBERT (optional)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A5F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x_work/icons/cha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519" y="20509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intent matching + TF-IDF classifier fallback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A5F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ptx_work/icons/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" y="42912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1330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Pickle, Joblib, native .h5 / .pt formats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A5F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160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pptx_work/icons/clou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8479" y="429127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1330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Deploy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Pydantic, Docker, Render / Railway / EC2 / Cloud Run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A5F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160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pptx_work/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7519" y="429127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1330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lint, test, build image on push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A — Computer Vision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pptx_work/icons/camer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8130" y="625450"/>
            <a:ext cx="395021" cy="3950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45920"/>
            <a:ext cx="109728" cy="12344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 basics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97680" y="1627632"/>
            <a:ext cx="7223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conversion, Gaussian blur, Canny edge detection, and Haar Cascade face bounding boxes via a reusable cv_utils.py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109728" cy="12344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13639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classification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97680" y="3136392"/>
            <a:ext cx="7223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on MobileNetV2 (frozen ImageNet base + new dense/softmax head) classifies products into categories with a confidence score; serialized as product_classifier.h5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663440"/>
            <a:ext cx="109728" cy="12344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64515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97680" y="4645152"/>
            <a:ext cx="7223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face_recognition (dlib) generates a 128-d encoding, matched against face_db.pkl by Euclidean distance against a similarity threshold; matches logged for loyalty analytics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B — Natural Language 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pptx_work/icons/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8130" y="625450"/>
            <a:ext cx="395021" cy="3950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54480"/>
            <a:ext cx="109728" cy="10515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536192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preprocessing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297680" y="1536192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Lowercasing, punctuation removal, stopword filtering, lemmatization (spaCy/NLTK), tokenization — applied to a Women's E-Commerce Clothing Reviews-style corpus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109728" cy="10515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816352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297680" y="2816352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 + Logistic Regression / SVM baseline classify Positive / Negative / Neutral with a confidence score; DistilBERT identified as an upgrade path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114800"/>
            <a:ext cx="109728" cy="10515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096512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297680" y="4096512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sentiment_model.pkl + vectorizer.pkl via Joblib, ready for the unified inference pipeline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548640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081821"/>
          </a:solidFill>
          <a:ln w="12700">
            <a:solidFill>
              <a:srgbClr val="1C3A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548640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/analyze-sentiment  </a:t>
            </a:r>
            <a:r>
              <a:rPr lang="en-US" sz="1300" dirty="0">
                <a:solidFill>
                  <a:srgbClr val="9FB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{ "sentiment": "Positive", "confidence": 0.94 }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 — Chatbot &amp; Unified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pptx_work/icons/cha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8130" y="625450"/>
            <a:ext cx="395021" cy="3950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45920"/>
            <a:ext cx="109728" cy="12344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chatbot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97680" y="1627632"/>
            <a:ext cx="7223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layer handles common FAQs (hours, returns) via direct intent matching; a TF-IDF + classifier ML fallback handles paraphrased, out-of-scope queries — defined in a custom intents.json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109728" cy="12344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13639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pipeline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97680" y="3136392"/>
            <a:ext cx="7223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loads every model once at startup (singleton pattern), avoiding repeated load overhead across requests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663440"/>
            <a:ext cx="109728" cy="12344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64515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Serialization strategy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97680" y="4645152"/>
            <a:ext cx="7223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models via Joblib, deep learning models in native .h5/.pt, lightweight artifacts (encodings, intents) via Pickle — each model swappable independently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documented endpoints, containerized for portability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8580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73352"/>
            <a:ext cx="68580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/recognize-face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or register a customer from an uploaded image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67712"/>
            <a:ext cx="68580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386584"/>
            <a:ext cx="68580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865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26771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/classify-product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2267712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product category from an image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980944"/>
            <a:ext cx="68580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099816"/>
            <a:ext cx="68580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9981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298094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/analyze-sentiment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98094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 + confidence from 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694176"/>
            <a:ext cx="68580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813048"/>
            <a:ext cx="68580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13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369417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/chatbot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369417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a customer message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407408"/>
            <a:ext cx="68580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526280"/>
            <a:ext cx="685800" cy="384048"/>
          </a:xfrm>
          <a:prstGeom prst="roundRect">
            <a:avLst>
              <a:gd name="adj" fmla="val 11905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52628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440740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/dashboard/stats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0" y="440740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visit &amp; sentiment statistics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18120" y="155448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0B1F2A"/>
          </a:solidFill>
          <a:ln/>
        </p:spPr>
      </p:sp>
      <p:sp>
        <p:nvSpPr>
          <p:cNvPr id="30" name="Shape 28"/>
          <p:cNvSpPr/>
          <p:nvPr/>
        </p:nvSpPr>
        <p:spPr>
          <a:xfrm>
            <a:off x="80924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0" descr="/home/claude/pptx_work/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199" y="1913839"/>
            <a:ext cx="241402" cy="24140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68680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092440" y="253288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1"/>
          <p:cNvSpPr/>
          <p:nvPr/>
        </p:nvSpPr>
        <p:spPr>
          <a:xfrm>
            <a:off x="8321040" y="23957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(Dockerfile + requirements.txt) for portability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092440" y="315468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3"/>
          <p:cNvSpPr/>
          <p:nvPr/>
        </p:nvSpPr>
        <p:spPr>
          <a:xfrm>
            <a:off x="8321040" y="3017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Render, Railway, AWS EC2, Google Cloud Run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092440" y="37764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5"/>
          <p:cNvSpPr/>
          <p:nvPr/>
        </p:nvSpPr>
        <p:spPr>
          <a:xfrm>
            <a:off x="8321040" y="36393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/ auth header on endpoints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092440" y="439826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7"/>
          <p:cNvSpPr/>
          <p:nvPr/>
        </p:nvSpPr>
        <p:spPr>
          <a:xfrm>
            <a:off x="8321040" y="426110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for lint, test, image build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092440" y="502005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39"/>
          <p:cNvSpPr/>
          <p:nvPr/>
        </p:nvSpPr>
        <p:spPr>
          <a:xfrm>
            <a:off x="8321040" y="488289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layer — scales behind a load balancer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trained on an 80/20 train-validation split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09928"/>
            <a:ext cx="548640" cy="54864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6" name="Image 0" descr="/home/claude/pptx_work/icons/tag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5257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184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Classification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80560" y="161848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product set (Fashion-MNIST style)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63840" y="1618488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Shoes, bags, electronics, clothing, groceries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807208"/>
            <a:ext cx="548640" cy="54864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12" name="Image 1" descr="/home/claude/pptx_work/icons/users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94985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71576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80560" y="27157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subset (demo, consenting sample faces)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863840" y="2715768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encoding &amp; matching logic without real customer data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3904488"/>
            <a:ext cx="548640" cy="54864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18" name="Image 2" descr="/home/claude/pptx_work/icons/chart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04713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81304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480560" y="381304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E-Commerce Clothing Reviews-style corpus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863840" y="3813048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reviews for training/evaluating the sentiment model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0080" y="480060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2960" y="5001768"/>
            <a:ext cx="548640" cy="548640"/>
          </a:xfrm>
          <a:prstGeom prst="ellipse">
            <a:avLst/>
          </a:prstGeom>
          <a:solidFill>
            <a:srgbClr val="E6F4F3"/>
          </a:solidFill>
          <a:ln/>
        </p:spPr>
      </p:sp>
      <p:pic>
        <p:nvPicPr>
          <p:cNvPr id="24" name="Image 3" descr="/home/claude/pptx_work/icons/chat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514441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491032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480560" y="491032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intents.json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863840" y="4910328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Hand-authored FAQ intents, patterns &amp; response templates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Testing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validation of the architecture, not a production benchmark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126480" cy="749808"/>
          </a:xfrm>
          <a:prstGeom prst="roundRect">
            <a:avLst>
              <a:gd name="adj" fmla="val 6098"/>
            </a:avLst>
          </a:prstGeom>
          <a:solidFill>
            <a:srgbClr val="0F2A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classifier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88920" y="150876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validation accuracy — benefits from MobileNetV2 transfer learning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6126480" cy="749808"/>
          </a:xfrm>
          <a:prstGeom prst="roundRect">
            <a:avLst>
              <a:gd name="adj" fmla="val 6098"/>
            </a:avLst>
          </a:prstGeom>
          <a:solidFill>
            <a:srgbClr val="0F2A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000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88920" y="23500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on clear, front-facing images; degrades in poor lighting / angles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191256"/>
            <a:ext cx="6126480" cy="749808"/>
          </a:xfrm>
          <a:prstGeom prst="roundRect">
            <a:avLst>
              <a:gd name="adj" fmla="val 6098"/>
            </a:avLst>
          </a:prstGeom>
          <a:solidFill>
            <a:srgbClr val="0F2A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9125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classifier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88920" y="319125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clear positive/negative reviews; more ambiguity on neutral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6126480" cy="749808"/>
          </a:xfrm>
          <a:prstGeom prst="roundRect">
            <a:avLst>
              <a:gd name="adj" fmla="val 6098"/>
            </a:avLst>
          </a:prstGeom>
          <a:solidFill>
            <a:srgbClr val="0F2A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3250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88920" y="403250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in-scope FAQ accuracy; ML fallback handles paraphrasing reasonably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873752"/>
            <a:ext cx="6126480" cy="749808"/>
          </a:xfrm>
          <a:prstGeom prst="roundRect">
            <a:avLst>
              <a:gd name="adj" fmla="val 6098"/>
            </a:avLst>
          </a:prstGeom>
          <a:solidFill>
            <a:srgbClr val="0F2A3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7375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88920" y="487375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latency for text endpoints; image endpoints slightly higher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1508760"/>
            <a:ext cx="4434840" cy="4206240"/>
          </a:xfrm>
          <a:prstGeom prst="roundRect">
            <a:avLst>
              <a:gd name="adj" fmla="val 1739"/>
            </a:avLst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1737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0" descr="/home/claude/pptx_work/icons/check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959" y="1868119"/>
            <a:ext cx="241402" cy="24140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90956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315200" y="23317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FastAPI TestClient across unit and integration levels — 10 sample test cases covering: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315200" y="3035808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7543800" y="289864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input → HTTP 200 with correct response shape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15200" y="360273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543800" y="346557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/ malformed input → HTTP 422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15200" y="4169664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543800" y="403250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vs. unenrolled face matching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15200" y="4736592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7543800" y="459943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invalid API key → HTTP 401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34924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E2E9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x_work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5023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371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8680" y="215798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0116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before enrolling a customer's face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299923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85292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data stored securely, only for its stated purpose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384048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69417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with customers on what is captured and why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468172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53542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bias risk across demographic groups; demo uses consenting sample faces (LFW), not real customer data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" y="5522976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537667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Biometric, chat/review text, and analytics kept in separate storage for independent access control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72200" y="1143000"/>
            <a:ext cx="5349240" cy="5212080"/>
          </a:xfrm>
          <a:prstGeom prst="roundRect">
            <a:avLst>
              <a:gd name="adj" fmla="val 1404"/>
            </a:avLst>
          </a:prstGeom>
          <a:solidFill>
            <a:srgbClr val="0B1F2A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0" y="1371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1" descr="/home/claude/pptx_work/icons/target_0B1F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150235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40880" y="13716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Challenges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400800" y="215798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8"/>
          <p:cNvSpPr/>
          <p:nvPr/>
        </p:nvSpPr>
        <p:spPr>
          <a:xfrm>
            <a:off x="6629400" y="2011680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project-scale datasets — accuracy figures are indicative, not production-grade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400800" y="28803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0"/>
          <p:cNvSpPr/>
          <p:nvPr/>
        </p:nvSpPr>
        <p:spPr>
          <a:xfrm>
            <a:off x="6629400" y="2734056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sensitive to lighting, angle, resolution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00800" y="360273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2"/>
          <p:cNvSpPr/>
          <p:nvPr/>
        </p:nvSpPr>
        <p:spPr>
          <a:xfrm>
            <a:off x="6629400" y="3456432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classifier weaker on mixed/neutral reviews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400800" y="432511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4"/>
          <p:cNvSpPr/>
          <p:nvPr/>
        </p:nvSpPr>
        <p:spPr>
          <a:xfrm>
            <a:off x="6629400" y="4178808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rule layer covers only defined intents; rest depends on the ML fallback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00800" y="504748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6"/>
          <p:cNvSpPr/>
          <p:nvPr/>
        </p:nvSpPr>
        <p:spPr>
          <a:xfrm>
            <a:off x="6629400" y="4901184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GPU — constrained larger models like fine-tuned DistilBERT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400800" y="576986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28"/>
          <p:cNvSpPr/>
          <p:nvPr/>
        </p:nvSpPr>
        <p:spPr>
          <a:xfrm>
            <a:off x="6629400" y="5623560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9-day sprint prioritized a working pipeline over exhaustive tuning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well-architected system can bring computer vision, NLP, and conversational AI together to solve customer recognition, cataloguing, sentiment monitoring, and support — without treating each as an isolated exercise.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0F2A38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7569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23160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DistilBERT for ambiguous/neutral sentiment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4231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0F2A38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27569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423160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more diverse product catalogue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0F2A38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6713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337560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(Streamlit / React) with richer visuals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3375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0F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9672" y="36713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337560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auth, rate limiting, full 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0F2A38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5857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251960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bias audit of face recognition across demographics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2519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0F2A38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45857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251960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retraining the chatbot from flagged fallbacks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394960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5394960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5394960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5852160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5852160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5852160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Retail &amp; Customer Intelligence Platform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Patre</a:t>
            </a: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github.com/AmanPatre/AI-Powered-Smart-Retail-CustomerIntelligence-Platform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92640" y="2286000"/>
            <a:ext cx="1463040" cy="1463040"/>
          </a:xfrm>
          <a:prstGeom prst="ellipse">
            <a:avLst/>
          </a:prstGeom>
          <a:solidFill>
            <a:srgbClr val="0F2A38"/>
          </a:solidFill>
          <a:ln/>
        </p:spPr>
      </p:sp>
      <p:pic>
        <p:nvPicPr>
          <p:cNvPr id="12" name="Image 0" descr="/home/claude/pptx_work/icons/cpu_02C3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030" y="2666390"/>
            <a:ext cx="702259" cy="7022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1471</Words>
  <Application>Microsoft Office PowerPoint</Application>
  <PresentationFormat>Widescreen</PresentationFormat>
  <Paragraphs>219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Patre</cp:lastModifiedBy>
  <cp:revision>2</cp:revision>
  <dcterms:created xsi:type="dcterms:W3CDTF">2026-08-04T18:34:08Z</dcterms:created>
  <dcterms:modified xsi:type="dcterms:W3CDTF">2026-08-04T18:40:22Z</dcterms:modified>
</cp:coreProperties>
</file>